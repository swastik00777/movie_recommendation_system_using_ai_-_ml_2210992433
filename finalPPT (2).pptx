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7"/>
  </p:handoutMasterIdLst>
  <p:sldIdLst>
    <p:sldId id="256" r:id="rId3"/>
    <p:sldId id="271" r:id="rId5"/>
    <p:sldId id="257" r:id="rId6"/>
    <p:sldId id="279" r:id="rId7"/>
    <p:sldId id="272" r:id="rId8"/>
    <p:sldId id="277" r:id="rId9"/>
    <p:sldId id="273" r:id="rId10"/>
    <p:sldId id="270" r:id="rId11"/>
    <p:sldId id="274" r:id="rId12"/>
    <p:sldId id="278" r:id="rId13"/>
    <p:sldId id="276" r:id="rId14"/>
    <p:sldId id="275" r:id="rId15"/>
    <p:sldId id="268" r:id="rId16"/>
  </p:sldIdLst>
  <p:sldSz cx="9144000" cy="6858000" type="screen4x3"/>
  <p:notesSz cx="7559675" cy="106914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81" d="100"/>
          <a:sy n="81" d="100"/>
        </p:scale>
        <p:origin x="1498" y="34"/>
      </p:cViewPr>
      <p:guideLst>
        <p:guide orient="horz" pos="2160"/>
        <p:guide pos="291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customXml" Target="../customXml/item3.xml"/><Relationship Id="rId22" Type="http://schemas.openxmlformats.org/officeDocument/2006/relationships/customXml" Target="../customXml/item2.xml"/><Relationship Id="rId21" Type="http://schemas.openxmlformats.org/officeDocument/2006/relationships/customXml" Target="../customXml/item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fld>
            <a:endParaRPr lang="en-US"/>
          </a:p>
        </p:txBody>
      </p:sp>
      <p:sp>
        <p:nvSpPr>
          <p:cNvPr id="4" name="Footer Placeholder 3"/>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endParaRPr lang="en-US"/>
          </a:p>
        </p:txBody>
      </p:sp>
      <p:sp>
        <p:nvSpPr>
          <p:cNvPr id="5" name="Slide Number Placeholder 4"/>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fld>
            <a:endParaRPr 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fld>
            <a:endParaRPr 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fld>
            <a:endParaRPr lang="en-US"/>
          </a:p>
        </p:txBody>
      </p:sp>
      <p:sp>
        <p:nvSpPr>
          <p:cNvPr id="5" name="Footer Placeholder 4"/>
          <p:cNvSpPr>
            <a:spLocks noGrp="1"/>
          </p:cNvSpPr>
          <p:nvPr>
            <p:ph type="ftr" sz="quarter" idx="4"/>
          </p:nvPr>
        </p:nvSpPr>
        <p:spPr/>
        <p:txBody>
          <a:bodyPr/>
          <a:lstStyle/>
          <a:p>
            <a:r>
              <a:rPr lang="en-US"/>
              <a:t>Name of the faculty [Group: G00] [Sem:2nd]</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jpe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IN"/>
          </a:p>
        </p:txBody>
      </p:sp>
      <p:pic>
        <p:nvPicPr>
          <p:cNvPr id="2" name="Picture 10" descr="LOGO.gif"/>
          <p:cNvPicPr/>
          <p:nvPr/>
        </p:nvPicPr>
        <p:blipFill>
          <a:blip r:embed="rId13"/>
          <a:srcRect b="10718"/>
          <a:stretch>
            <a:fillRect/>
          </a:stretch>
        </p:blipFill>
        <p:spPr>
          <a:xfrm>
            <a:off x="6553080" y="228600"/>
            <a:ext cx="2057040" cy="634680"/>
          </a:xfrm>
          <a:prstGeom prst="rect">
            <a:avLst/>
          </a:prstGeom>
          <a:ln w="9360">
            <a:noFill/>
          </a:ln>
        </p:spPr>
      </p:pic>
      <p:pic>
        <p:nvPicPr>
          <p:cNvPr id="3" name="Picture 10" descr="LOGO.gif"/>
          <p:cNvPicPr/>
          <p:nvPr/>
        </p:nvPicPr>
        <p:blipFill>
          <a:blip r:embed="rId13"/>
          <a:srcRect b="10718"/>
          <a:stretch>
            <a:fillRect/>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6" name="Picture 9" descr="LOGO.gif"/>
            <p:cNvPicPr/>
            <p:nvPr/>
          </p:nvPicPr>
          <p:blipFill>
            <a:blip r:embed="rId13"/>
            <a:srcRect b="10718"/>
            <a:stretch>
              <a:fillRect/>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8" name="Picture 15" descr="logo.jpg"/>
          <p:cNvPicPr/>
          <p:nvPr/>
        </p:nvPicPr>
        <p:blipFill>
          <a:blip r:embed="rId14"/>
          <a:stretch>
            <a:fillRect/>
          </a:stretch>
        </p:blipFill>
        <p:spPr>
          <a:xfrm>
            <a:off x="6553080" y="228600"/>
            <a:ext cx="1920600" cy="609120"/>
          </a:xfrm>
          <a:prstGeom prst="rect">
            <a:avLst/>
          </a:prstGeom>
          <a:ln w="9360">
            <a:noFill/>
          </a:ln>
        </p:spPr>
      </p:pic>
      <p:pic>
        <p:nvPicPr>
          <p:cNvPr id="9" name="Picture 10" descr="LOGO.gif"/>
          <p:cNvPicPr/>
          <p:nvPr/>
        </p:nvPicPr>
        <p:blipFill>
          <a:blip r:embed="rId13"/>
          <a:srcRect b="10718"/>
          <a:stretch>
            <a:fillRect/>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12" name="Picture 9" descr="LOGO.gif"/>
            <p:cNvPicPr/>
            <p:nvPr/>
          </p:nvPicPr>
          <p:blipFill>
            <a:blip r:embed="rId13"/>
            <a:srcRect b="10718"/>
            <a:stretch>
              <a:fillRect/>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14" name="Picture 15" descr="logo.jpg"/>
          <p:cNvPicPr/>
          <p:nvPr/>
        </p:nvPicPr>
        <p:blipFill>
          <a:blip r:embed="rId14"/>
          <a:stretch>
            <a:fillRect/>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panose="020F0502020204030204"/>
                <a:ea typeface="MS PGothic" panose="020B0600070205080204" charset="-128"/>
              </a:rPr>
              <a:t>Click to edit Master title style</a:t>
            </a:r>
            <a:endParaRPr lang="en-US" sz="3000" b="0" strike="noStrike" spc="-1" dirty="0">
              <a:solidFill>
                <a:srgbClr val="000000"/>
              </a:solidFill>
              <a:latin typeface="Arial" panose="020B0604020202020204"/>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2900" indent="-342900">
              <a:lnSpc>
                <a:spcPct val="100000"/>
              </a:lnSpc>
              <a:spcBef>
                <a:spcPts val="640"/>
              </a:spcBef>
              <a:buClr>
                <a:srgbClr val="000000"/>
              </a:buClr>
              <a:buFont typeface="Arial" panose="020B0604020202020204"/>
              <a:buChar char="•"/>
            </a:pPr>
            <a:r>
              <a:rPr lang="en-US" sz="3200" b="0" strike="noStrike" spc="-1" dirty="0">
                <a:solidFill>
                  <a:srgbClr val="000000"/>
                </a:solidFill>
                <a:latin typeface="Calibri" panose="020F0502020204030204"/>
                <a:ea typeface="MS PGothic" panose="020B0600070205080204" charset="-128"/>
              </a:rPr>
              <a:t>Click to edit Master text styles</a:t>
            </a:r>
            <a:endParaRPr lang="en-US" sz="3200" b="0" strike="noStrike" spc="-1" dirty="0">
              <a:solidFill>
                <a:srgbClr val="000000"/>
              </a:solidFill>
              <a:latin typeface="Calibri" panose="020F0502020204030204"/>
            </a:endParaRPr>
          </a:p>
          <a:p>
            <a:pPr marL="742950" lvl="1" indent="-285750">
              <a:lnSpc>
                <a:spcPct val="100000"/>
              </a:lnSpc>
              <a:spcBef>
                <a:spcPts val="560"/>
              </a:spcBef>
              <a:buClr>
                <a:srgbClr val="000000"/>
              </a:buClr>
              <a:buFont typeface="Arial" panose="020B0604020202020204"/>
              <a:buChar char="–"/>
            </a:pPr>
            <a:r>
              <a:rPr lang="en-US" sz="2800" b="0" strike="noStrike" spc="-1" dirty="0">
                <a:solidFill>
                  <a:srgbClr val="000000"/>
                </a:solidFill>
                <a:latin typeface="Calibri" panose="020F0502020204030204"/>
                <a:ea typeface="MS PGothic" panose="020B0600070205080204" charset="-128"/>
              </a:rPr>
              <a:t>Second level</a:t>
            </a:r>
            <a:endParaRPr lang="en-US" sz="2800" b="0" strike="noStrike" spc="-1" dirty="0">
              <a:solidFill>
                <a:srgbClr val="000000"/>
              </a:solidFill>
              <a:latin typeface="Calibri" panose="020F0502020204030204"/>
            </a:endParaRPr>
          </a:p>
          <a:p>
            <a:pPr marL="1143000" lvl="2" indent="-227965">
              <a:lnSpc>
                <a:spcPct val="100000"/>
              </a:lnSpc>
              <a:spcBef>
                <a:spcPts val="480"/>
              </a:spcBef>
              <a:buClr>
                <a:srgbClr val="000000"/>
              </a:buClr>
              <a:buFont typeface="Arial" panose="020B0604020202020204"/>
              <a:buChar char="•"/>
            </a:pPr>
            <a:r>
              <a:rPr lang="en-US" sz="2400" b="0" strike="noStrike" spc="-1" dirty="0">
                <a:solidFill>
                  <a:srgbClr val="000000"/>
                </a:solidFill>
                <a:latin typeface="Calibri" panose="020F0502020204030204"/>
                <a:ea typeface="MS PGothic" panose="020B0600070205080204" charset="-128"/>
              </a:rPr>
              <a:t>Third level</a:t>
            </a:r>
            <a:endParaRPr lang="en-US" sz="2400" b="0" strike="noStrike" spc="-1" dirty="0">
              <a:solidFill>
                <a:srgbClr val="000000"/>
              </a:solidFill>
              <a:latin typeface="Calibri" panose="020F0502020204030204"/>
            </a:endParaRPr>
          </a:p>
          <a:p>
            <a:pPr marL="1600200" lvl="3" indent="-227965">
              <a:lnSpc>
                <a:spcPct val="100000"/>
              </a:lnSpc>
              <a:spcBef>
                <a:spcPts val="400"/>
              </a:spcBef>
              <a:buClr>
                <a:srgbClr val="000000"/>
              </a:buClr>
              <a:buFont typeface="Arial" panose="020B0604020202020204"/>
              <a:buChar char="–"/>
            </a:pPr>
            <a:r>
              <a:rPr lang="en-US" sz="2000" b="0" strike="noStrike" spc="-1" dirty="0">
                <a:solidFill>
                  <a:srgbClr val="000000"/>
                </a:solidFill>
                <a:latin typeface="Calibri" panose="020F0502020204030204"/>
                <a:ea typeface="MS PGothic" panose="020B0600070205080204" charset="-128"/>
              </a:rPr>
              <a:t>Fourth level</a:t>
            </a:r>
            <a:endParaRPr lang="en-US" sz="2000" b="0" strike="noStrike" spc="-1" dirty="0">
              <a:solidFill>
                <a:srgbClr val="000000"/>
              </a:solidFill>
              <a:latin typeface="Calibri" panose="020F0502020204030204"/>
            </a:endParaRPr>
          </a:p>
          <a:p>
            <a:pPr marL="2057400" lvl="4" indent="-227965">
              <a:lnSpc>
                <a:spcPct val="100000"/>
              </a:lnSpc>
              <a:spcBef>
                <a:spcPts val="400"/>
              </a:spcBef>
              <a:buClr>
                <a:srgbClr val="000000"/>
              </a:buClr>
              <a:buFont typeface="Arial" panose="020B0604020202020204"/>
              <a:buChar char="»"/>
            </a:pPr>
            <a:r>
              <a:rPr lang="en-US" sz="2000" b="0" strike="noStrike" spc="-1" dirty="0">
                <a:solidFill>
                  <a:srgbClr val="000000"/>
                </a:solidFill>
                <a:latin typeface="Calibri" panose="020F0502020204030204"/>
                <a:ea typeface="MS PGothic" panose="020B0600070205080204" charset="-128"/>
              </a:rPr>
              <a:t>Fifth level</a:t>
            </a:r>
            <a:endParaRPr lang="en-US" sz="2000" b="0" strike="noStrike" spc="-1" dirty="0">
              <a:solidFill>
                <a:srgbClr val="000000"/>
              </a:solidFill>
              <a:latin typeface="Calibri" panose="020F0502020204030204"/>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panose="02020603050405020304"/>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panose="02020603050405020304"/>
              </a:rPr>
              <a:t>Name</a:t>
            </a:r>
            <a:endParaRPr lang="en-GB" sz="2400" b="0" strike="noStrike" spc="-1">
              <a:latin typeface="Times New Roman" panose="02020603050405020304"/>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panose="020F0502020204030204"/>
                <a:ea typeface="MS PGothic" panose="020B0600070205080204" charset="-128"/>
              </a:rPr>
            </a:fld>
            <a:endParaRPr lang="en-GB" sz="1200" b="0" strike="noStrike" spc="-1">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colab.google/?utm_source=chatgpt.com" TargetMode="External"/></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endParaRPr lang="en-US" sz="2000"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Calibri" panose="020F0502020204030204" pitchFamily="34" charset="0"/>
              <a:cs typeface="Times New Roman" panose="02020603050405020304" pitchFamily="18" charset="0"/>
            </a:endParaRPr>
          </a:p>
          <a:p>
            <a:pPr algn="ctr"/>
            <a:r>
              <a:rPr lang="en-IN" altLang="en-US" b="1" i="1" spc="-1" dirty="0">
                <a:latin typeface="Times New Roman" panose="02020603050405020304" pitchFamily="18" charset="0"/>
                <a:ea typeface="Calibri" panose="020F0502020204030204" pitchFamily="34" charset="0"/>
                <a:cs typeface="Times New Roman" panose="02020603050405020304" pitchFamily="18" charset="0"/>
              </a:rPr>
              <a:t>Movie recommendation System Using aiml </a:t>
            </a:r>
            <a:endParaRPr lang="en-US" b="1"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endPar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IN" alt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Sanisth tara</a:t>
            </a: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 (221099</a:t>
            </a:r>
            <a:r>
              <a:rPr lang="en-IN" alt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2247</a:t>
            </a: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a:t>
            </a:r>
            <a:endPar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IN" alt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Swastik tara </a:t>
            </a: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(2210992</a:t>
            </a:r>
            <a:r>
              <a:rPr lang="en-IN" alt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433</a:t>
            </a: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a:t>
            </a:r>
            <a:endPar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Supervised By</a:t>
            </a:r>
            <a:endPar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IN" altLang="en-US" sz="2000" b="1"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Mr. Rajat takkar</a:t>
            </a:r>
            <a:endParaRPr lang="en-US" sz="2000" b="1"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panose="020B0600070205080204" charset="-128"/>
                <a:cs typeface="Times New Roman" panose="02020603050405020304" pitchFamily="18" charset="0"/>
              </a:rPr>
              <a:t>Department of </a:t>
            </a:r>
            <a:r>
              <a:rPr lang="en-US" sz="2400" b="0" strike="noStrike" spc="-1" dirty="0">
                <a:latin typeface="Times New Roman" panose="02020603050405020304" pitchFamily="18" charset="0"/>
                <a:ea typeface="MS PGothic" panose="020B0600070205080204" charset="-128"/>
                <a:cs typeface="Times New Roman" panose="02020603050405020304" pitchFamily="18" charset="0"/>
              </a:rPr>
              <a:t>Computer Science and Engineering, </a:t>
            </a:r>
            <a:endParaRPr lang="en-US" sz="2400" b="0" strike="noStrike"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400" b="0" strike="noStrike" spc="-1" dirty="0">
                <a:latin typeface="Times New Roman" panose="02020603050405020304" pitchFamily="18" charset="0"/>
                <a:ea typeface="MS PGothic" panose="020B0600070205080204" charset="-128"/>
                <a:cs typeface="Times New Roman" panose="02020603050405020304" pitchFamily="18" charset="0"/>
              </a:rPr>
              <a:t>Chitkara University, Punjab</a:t>
            </a:r>
            <a:endParaRPr lang="en-US" sz="2400" b="0" strike="noStrike"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50000"/>
              </a:lnSpc>
              <a:spcBef>
                <a:spcPts val="400"/>
              </a:spcBef>
            </a:pPr>
            <a:endParaRPr lang="en-US" sz="2000" b="0" strike="noStrike" spc="-1" dirty="0">
              <a:solidFill>
                <a:srgbClr val="000000"/>
              </a:solidFill>
              <a:latin typeface="Calibri" panose="020F0502020204030204"/>
            </a:endParaRPr>
          </a:p>
          <a:p>
            <a:pPr>
              <a:lnSpc>
                <a:spcPct val="100000"/>
              </a:lnSpc>
              <a:spcBef>
                <a:spcPts val="640"/>
              </a:spcBef>
            </a:pPr>
            <a:endParaRPr lang="en-US" sz="2000" b="0" strike="noStrike" spc="-1" dirty="0">
              <a:solidFill>
                <a:srgbClr val="000000"/>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endParaRPr lang="en-IN" dirty="0"/>
          </a:p>
        </p:txBody>
      </p:sp>
      <p:sp>
        <p:nvSpPr>
          <p:cNvPr id="3" name="Subtitle 2"/>
          <p:cNvSpPr>
            <a:spLocks noGrp="1"/>
          </p:cNvSpPr>
          <p:nvPr>
            <p:ph type="subTitle"/>
          </p:nvPr>
        </p:nvSpPr>
        <p:spPr>
          <a:xfrm>
            <a:off x="84842" y="1074654"/>
            <a:ext cx="8573318" cy="4883085"/>
          </a:xfrm>
        </p:spPr>
        <p:txBody>
          <a:bodyPr/>
          <a:lstStyle/>
          <a:p>
            <a:pPr marL="0" indent="0">
              <a:buNone/>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34" charset="-120"/>
              </a:rPr>
              <a:t>1.  Introduction</a:t>
            </a:r>
            <a:endParaRPr lang="en-US" sz="2400" dirty="0"/>
          </a:p>
          <a:p>
            <a:pPr marL="457200" indent="-457200">
              <a:buAutoNum type="arabicPeriod" startAt="2"/>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34" charset="-120"/>
              </a:rPr>
              <a:t>Literature Review</a:t>
            </a:r>
            <a:endPar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34" charset="-120"/>
            </a:endParaRPr>
          </a:p>
          <a:p>
            <a:pPr marL="457200" indent="-457200">
              <a:buAutoNum type="arabicPeriod" startAt="2"/>
            </a:pPr>
            <a:r>
              <a:rPr lang="en-US" sz="2400" dirty="0">
                <a:latin typeface="Times New Roman" panose="02020603050405020304" pitchFamily="18" charset="0"/>
                <a:cs typeface="Times New Roman" panose="02020603050405020304" pitchFamily="18" charset="0"/>
              </a:rPr>
              <a:t>Tools and Technologies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34" charset="-120"/>
              </a:rPr>
              <a:t>3.  Fundamental Concepts</a:t>
            </a:r>
            <a:endParaRPr lang="en-US" sz="2400" dirty="0"/>
          </a:p>
          <a:p>
            <a:pPr marL="0" indent="0">
              <a:buNone/>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34" charset="-120"/>
              </a:rPr>
              <a:t>4.  Experimental Methodology</a:t>
            </a:r>
            <a:endParaRPr lang="en-US" sz="2400" dirty="0"/>
          </a:p>
          <a:p>
            <a:pPr marL="0" indent="0">
              <a:buNone/>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34" charset="-120"/>
              </a:rPr>
              <a:t>5.  Results &amp; Discussion</a:t>
            </a:r>
            <a:endParaRPr lang="en-US" sz="2400" dirty="0"/>
          </a:p>
          <a:p>
            <a:pPr marL="0" indent="0">
              <a:buNone/>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34" charset="-120"/>
              </a:rPr>
              <a:t>6.  Applications</a:t>
            </a:r>
            <a:endParaRPr lang="en-US" sz="2400" dirty="0"/>
          </a:p>
          <a:p>
            <a:pPr marL="0" indent="0">
              <a:buNone/>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34" charset="-120"/>
              </a:rPr>
              <a:t>7.  Limitations</a:t>
            </a:r>
            <a:endParaRPr lang="en-US" sz="2400" dirty="0"/>
          </a:p>
          <a:p>
            <a:pPr marL="0" indent="0">
              <a:buNone/>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34" charset="-120"/>
              </a:rPr>
              <a:t>8.  Conclusion &amp; Future Scope</a:t>
            </a:r>
            <a:endParaRPr lang="en-US" sz="2400" dirty="0"/>
          </a:p>
          <a:p>
            <a:pPr marL="0" indent="0">
              <a:buNone/>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34" charset="-120"/>
              </a:rPr>
              <a:t>9.  References</a:t>
            </a:r>
            <a:endParaRPr lang="en-US" sz="2400" dirty="0"/>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GB"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229996" y="108146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panose="020F0502020204030204"/>
            </a:endParaRPr>
          </a:p>
          <a:p>
            <a:r>
              <a:rPr lang="en-US" b="1" u="sng" dirty="0">
                <a:latin typeface="Times New Roman" panose="02020603050405020304" pitchFamily="18" charset="0"/>
                <a:cs typeface="Times New Roman" panose="02020603050405020304" pitchFamily="18" charset="0"/>
              </a:rPr>
              <a:t>Context &amp; Problem Statement</a:t>
            </a:r>
            <a:endParaRPr lang="en-US" b="1" u="sng"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Today, online streaming platforms contain thousands of movies and web series. Because of this huge collection, users often face difficulty in choosing movies according to their interests.</a:t>
            </a:r>
            <a:endParaRPr lang="en-US" altLang="en-US" sz="1400" dirty="0">
              <a:latin typeface="Times New Roman" panose="02020603050405020304" pitchFamily="18" charset="0"/>
              <a:cs typeface="Times New Roman" panose="02020603050405020304" pitchFamily="18" charset="0"/>
            </a:endParaRPr>
          </a:p>
          <a:p>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Traditional search methods are not smart enough to understand what a user actually likes. Most of the time, users only see trending or popular movies, even if those movies do not match their personal taste.</a:t>
            </a:r>
            <a:endParaRPr lang="en-US" altLang="en-US" sz="1400" dirty="0">
              <a:latin typeface="Times New Roman" panose="02020603050405020304" pitchFamily="18" charset="0"/>
              <a:cs typeface="Times New Roman" panose="02020603050405020304" pitchFamily="18" charset="0"/>
            </a:endParaRPr>
          </a:p>
          <a:p>
            <a:r>
              <a:rPr lang="en-US" sz="1600" b="1" u="sng" dirty="0">
                <a:latin typeface="Times New Roman" panose="02020603050405020304" pitchFamily="18" charset="0"/>
                <a:cs typeface="Times New Roman" panose="02020603050405020304" pitchFamily="18" charset="0"/>
              </a:rPr>
              <a:t>Research Objective</a:t>
            </a:r>
            <a:endParaRPr lang="en-US" sz="1600" b="1" u="sng" dirty="0">
              <a:latin typeface="Times New Roman" panose="02020603050405020304" pitchFamily="18" charset="0"/>
              <a:cs typeface="Times New Roman" panose="02020603050405020304" pitchFamily="18" charset="0"/>
            </a:endParaRPr>
          </a:p>
          <a:p>
            <a:pPr>
              <a:lnSpc>
                <a:spcPct val="150000"/>
              </a:lnSpc>
              <a:spcBef>
                <a:spcPts val="400"/>
              </a:spcBef>
            </a:pPr>
            <a:r>
              <a:rPr lang="en-US" altLang="en-US" sz="1400" b="0" strike="noStrike" spc="-1" dirty="0">
                <a:solidFill>
                  <a:srgbClr val="000000"/>
                </a:solidFill>
                <a:latin typeface="Times New Roman" panose="02020603050405020304" pitchFamily="18" charset="0"/>
                <a:cs typeface="Times New Roman" panose="02020603050405020304" pitchFamily="18" charset="0"/>
              </a:rPr>
              <a:t>The main objective of this project is to develop a smart Movie Recommendation System using Artificial Intelligence and Machine Learning that can suggest movies according to a user’s interests and watching behavior. The project also aims to study different recommendation techniques like Content-Based Filtering and Collaborative Filtering to improve recommendation accuracy. Another important goal is to make movie searching easier and faster by providing personalized recommendations to users.</a:t>
            </a:r>
            <a:endParaRPr lang="en-US" altLang="en-US" sz="14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r>
              <a:rPr lang="en-IN" altLang="en-US" sz="1200" b="0" strike="noStrike" spc="-1" dirty="0">
                <a:solidFill>
                  <a:srgbClr val="000000"/>
                </a:solidFill>
                <a:latin typeface="Times New Roman" panose="02020603050405020304" pitchFamily="18" charset="0"/>
                <a:cs typeface="Times New Roman" panose="02020603050405020304" pitchFamily="18" charset="0"/>
              </a:rPr>
              <a:t>T</a:t>
            </a:r>
            <a:r>
              <a:rPr lang="en-US" altLang="en-US" sz="1200" b="0" strike="noStrike" spc="-1" dirty="0">
                <a:solidFill>
                  <a:srgbClr val="000000"/>
                </a:solidFill>
                <a:latin typeface="Times New Roman" panose="02020603050405020304" pitchFamily="18" charset="0"/>
                <a:cs typeface="Times New Roman" panose="02020603050405020304" pitchFamily="18" charset="0"/>
              </a:rPr>
              <a:t>o d</a:t>
            </a:r>
            <a:r>
              <a:rPr lang="en-US" altLang="en-US" sz="1400" b="0" strike="noStrike" spc="-1" dirty="0">
                <a:solidFill>
                  <a:srgbClr val="000000"/>
                </a:solidFill>
                <a:latin typeface="Calibri" panose="020F0502020204030204"/>
              </a:rPr>
              <a:t>evelop a smart Movie Recommendation System using AI and Machine Learning</a:t>
            </a:r>
            <a:endParaRPr lang="en-US" altLang="en-US" sz="1400" b="0" strike="noStrike" spc="-1" dirty="0">
              <a:solidFill>
                <a:srgbClr val="000000"/>
              </a:solidFill>
              <a:latin typeface="Calibri" panose="020F0502020204030204"/>
            </a:endParaRPr>
          </a:p>
          <a:p>
            <a:pPr>
              <a:lnSpc>
                <a:spcPct val="150000"/>
              </a:lnSpc>
              <a:spcBef>
                <a:spcPts val="400"/>
              </a:spcBef>
            </a:pPr>
            <a:r>
              <a:rPr lang="en-US" altLang="en-US" sz="1400" b="0" strike="noStrike" spc="-1" dirty="0">
                <a:solidFill>
                  <a:srgbClr val="000000"/>
                </a:solidFill>
                <a:latin typeface="Calibri" panose="020F0502020204030204"/>
              </a:rPr>
              <a:t>To recommend movies based on user interests and watch history.</a:t>
            </a:r>
            <a:endParaRPr lang="en-US" altLang="en-US" sz="1400" b="0" strike="noStrike" spc="-1" dirty="0">
              <a:solidFill>
                <a:srgbClr val="000000"/>
              </a:solidFill>
              <a:latin typeface="Calibri" panose="020F0502020204030204"/>
            </a:endParaRPr>
          </a:p>
          <a:p>
            <a:pPr>
              <a:lnSpc>
                <a:spcPct val="150000"/>
              </a:lnSpc>
              <a:spcBef>
                <a:spcPts val="400"/>
              </a:spcBef>
            </a:pPr>
            <a:r>
              <a:rPr lang="en-US" altLang="en-US" sz="1400" b="0" strike="noStrike" spc="-1" dirty="0">
                <a:solidFill>
                  <a:srgbClr val="000000"/>
                </a:solidFill>
                <a:latin typeface="Calibri" panose="020F0502020204030204"/>
              </a:rPr>
              <a:t>To make movie searching easier, faster, and more personalized for users.</a:t>
            </a:r>
            <a:endParaRPr lang="en-US" altLang="en-US" sz="1400" b="0" strike="noStrike" spc="-1" dirty="0">
              <a:solidFill>
                <a:srgbClr val="000000"/>
              </a:solidFill>
              <a:latin typeface="Calibri" panose="020F0502020204030204"/>
            </a:endParaRPr>
          </a:p>
          <a:p>
            <a:pPr>
              <a:lnSpc>
                <a:spcPct val="150000"/>
              </a:lnSpc>
              <a:spcBef>
                <a:spcPts val="400"/>
              </a:spcBef>
            </a:pPr>
            <a:endParaRPr lang="en-US" sz="1900" b="0" strike="noStrike" spc="-1" dirty="0">
              <a:solidFill>
                <a:srgbClr val="000000"/>
              </a:solidFill>
              <a:latin typeface="Calibri" panose="020F0502020204030204"/>
            </a:endParaRPr>
          </a:p>
          <a:p>
            <a:pPr>
              <a:lnSpc>
                <a:spcPct val="15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b="0" strike="noStrike" spc="-1" dirty="0">
              <a:solidFill>
                <a:srgbClr val="000000"/>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Tools And Technologies</a:t>
            </a:r>
            <a:endParaRPr lang="en-IN" sz="3200" dirty="0">
              <a:latin typeface="Times New Roman" panose="02020603050405020304" pitchFamily="18" charset="0"/>
              <a:cs typeface="Times New Roman" panose="02020603050405020304" pitchFamily="18" charset="0"/>
            </a:endParaRPr>
          </a:p>
        </p:txBody>
      </p:sp>
      <p:sp>
        <p:nvSpPr>
          <p:cNvPr id="6" name="Subtitle 2"/>
          <p:cNvSpPr>
            <a:spLocks noGrp="1"/>
          </p:cNvSpPr>
          <p:nvPr>
            <p:ph type="subTitle"/>
          </p:nvPr>
        </p:nvSpPr>
        <p:spPr>
          <a:xfrm>
            <a:off x="65988" y="1065229"/>
            <a:ext cx="8620812" cy="5147035"/>
          </a:xfrm>
        </p:spPr>
        <p:txBody>
          <a:bodyPr/>
          <a:lstStyle/>
          <a:p>
            <a:r>
              <a:rPr lang="en-US" sz="1400" b="1" dirty="0">
                <a:latin typeface="Times New Roman" panose="02020603050405020304" pitchFamily="18" charset="0"/>
                <a:cs typeface="Times New Roman" panose="02020603050405020304" pitchFamily="18" charset="0"/>
              </a:rPr>
              <a:t>Programming Language:</a:t>
            </a:r>
            <a:r>
              <a:rPr lang="en-US" sz="1400" dirty="0">
                <a:latin typeface="Times New Roman" panose="02020603050405020304" pitchFamily="18" charset="0"/>
                <a:cs typeface="Times New Roman" panose="02020603050405020304" pitchFamily="18" charset="0"/>
              </a:rPr>
              <a:t> Python 3.x</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Used for implementing machine learning models, data preprocessing, and visualization tasks. </a:t>
            </a:r>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Machine Learning Framework:</a:t>
            </a:r>
            <a:r>
              <a:rPr lang="en-US" sz="1400" dirty="0">
                <a:latin typeface="Times New Roman" panose="02020603050405020304" pitchFamily="18" charset="0"/>
                <a:cs typeface="Times New Roman" panose="02020603050405020304" pitchFamily="18" charset="0"/>
              </a:rPr>
              <a:t> scikit-learn</a:t>
            </a:r>
            <a:br>
              <a:rPr lang="en-US" sz="1400" dirty="0">
                <a:latin typeface="Times New Roman" panose="02020603050405020304" pitchFamily="18" charset="0"/>
                <a:cs typeface="Times New Roman" panose="02020603050405020304" pitchFamily="18" charset="0"/>
              </a:rPr>
            </a:br>
            <a:r>
              <a:rPr lang="en-US" altLang="en-US" sz="1400" dirty="0">
                <a:latin typeface="Times New Roman" panose="02020603050405020304" pitchFamily="18" charset="0"/>
                <a:cs typeface="Times New Roman" panose="02020603050405020304" pitchFamily="18" charset="0"/>
              </a:rPr>
              <a:t>Used for Machine Learning algorithms such as Content-Based Filtering, KNN, and Cosine Similarity.</a:t>
            </a:r>
            <a:endParaRPr lang="en-US" alt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Data Handling &amp; Preprocessing:</a:t>
            </a:r>
            <a:r>
              <a:rPr lang="en-US" sz="1400" dirty="0">
                <a:latin typeface="Times New Roman" panose="02020603050405020304" pitchFamily="18" charset="0"/>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a:p>
            <a:pPr lvl="1"/>
            <a:r>
              <a:rPr lang="en-US" sz="1400" dirty="0">
                <a:latin typeface="Times New Roman" panose="02020603050405020304" pitchFamily="18" charset="0"/>
                <a:cs typeface="Times New Roman" panose="02020603050405020304" pitchFamily="18" charset="0"/>
              </a:rPr>
              <a:t>pandas — Used for loading, cleaning, and preprocessing the dataset. </a:t>
            </a:r>
            <a:endParaRPr lang="en-US" sz="1400" dirty="0">
              <a:latin typeface="Times New Roman" panose="02020603050405020304" pitchFamily="18" charset="0"/>
              <a:cs typeface="Times New Roman" panose="02020603050405020304" pitchFamily="18" charset="0"/>
            </a:endParaRPr>
          </a:p>
          <a:p>
            <a:pPr lvl="1"/>
            <a:r>
              <a:rPr lang="en-US" sz="1200" dirty="0">
                <a:latin typeface="Times New Roman" panose="02020603050405020304" pitchFamily="18" charset="0"/>
                <a:cs typeface="Times New Roman" panose="02020603050405020304" pitchFamily="18" charset="0"/>
              </a:rPr>
              <a:t>NumPy — Used for numerical computations and array operations. </a:t>
            </a:r>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Data Visualization Tools:</a:t>
            </a:r>
            <a:r>
              <a:rPr lang="en-US" sz="1200"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a:p>
            <a:pPr lvl="1"/>
            <a:r>
              <a:rPr lang="en-US" sz="1200" dirty="0">
                <a:latin typeface="Times New Roman" panose="02020603050405020304" pitchFamily="18" charset="0"/>
                <a:cs typeface="Times New Roman" panose="02020603050405020304" pitchFamily="18" charset="0"/>
              </a:rPr>
              <a:t>Matplotlib — Used for generating graphs and performance charts. </a:t>
            </a:r>
            <a:endParaRPr lang="en-US" sz="1200" dirty="0">
              <a:latin typeface="Times New Roman" panose="02020603050405020304" pitchFamily="18" charset="0"/>
              <a:cs typeface="Times New Roman" panose="02020603050405020304" pitchFamily="18" charset="0"/>
            </a:endParaRPr>
          </a:p>
          <a:p>
            <a:pPr lvl="1"/>
            <a:r>
              <a:rPr lang="en-US" sz="1200" dirty="0">
                <a:latin typeface="Times New Roman" panose="02020603050405020304" pitchFamily="18" charset="0"/>
                <a:cs typeface="Times New Roman" panose="02020603050405020304" pitchFamily="18" charset="0"/>
              </a:rPr>
              <a:t>Seaborn </a:t>
            </a:r>
            <a:r>
              <a:rPr lang="en-US" sz="1400" dirty="0">
                <a:latin typeface="Times New Roman" panose="02020603050405020304" pitchFamily="18" charset="0"/>
                <a:cs typeface="Times New Roman" panose="02020603050405020304" pitchFamily="18" charset="0"/>
              </a:rPr>
              <a:t>— Used for advanced visualizations</a:t>
            </a:r>
            <a:r>
              <a:rPr lang="en-IN" altLang="en-US"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Development Environment:</a:t>
            </a:r>
            <a:r>
              <a:rPr lang="en-US" sz="1400" dirty="0">
                <a:latin typeface="Times New Roman" panose="02020603050405020304" pitchFamily="18" charset="0"/>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a:p>
            <a:pPr lvl="1"/>
            <a:r>
              <a:rPr lang="en-US" sz="1400" dirty="0">
                <a:latin typeface="Times New Roman" panose="02020603050405020304" pitchFamily="18" charset="0"/>
                <a:cs typeface="Times New Roman" panose="02020603050405020304" pitchFamily="18" charset="0"/>
              </a:rPr>
              <a:t>Jupiter Notebook — Used for coding, testing, and model execution. </a:t>
            </a:r>
            <a:endParaRPr lang="en-US" sz="1400" dirty="0">
              <a:latin typeface="Times New Roman" panose="02020603050405020304" pitchFamily="18" charset="0"/>
              <a:cs typeface="Times New Roman" panose="02020603050405020304" pitchFamily="18" charset="0"/>
            </a:endParaRPr>
          </a:p>
          <a:p>
            <a:pPr lvl="1"/>
            <a:r>
              <a:rPr lang="en-US" sz="1400" dirty="0">
                <a:latin typeface="Times New Roman" panose="02020603050405020304" pitchFamily="18" charset="0"/>
                <a:cs typeface="Times New Roman" panose="02020603050405020304" pitchFamily="18" charset="0"/>
                <a:hlinkClick r:id="rId1"/>
              </a:rPr>
              <a:t>Google </a:t>
            </a:r>
            <a:r>
              <a:rPr lang="en-US" sz="1400" dirty="0" err="1">
                <a:latin typeface="Times New Roman" panose="02020603050405020304" pitchFamily="18" charset="0"/>
                <a:cs typeface="Times New Roman" panose="02020603050405020304" pitchFamily="18" charset="0"/>
                <a:hlinkClick r:id="rId1"/>
              </a:rPr>
              <a:t>Colab</a:t>
            </a:r>
            <a:r>
              <a:rPr lang="en-US" sz="1400" dirty="0">
                <a:latin typeface="Times New Roman" panose="02020603050405020304" pitchFamily="18" charset="0"/>
                <a:cs typeface="Times New Roman" panose="02020603050405020304" pitchFamily="18" charset="0"/>
              </a:rPr>
              <a:t> — Cloud-based notebook platform used to run the project. </a:t>
            </a:r>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Dataset Used:</a:t>
            </a:r>
            <a:r>
              <a:rPr lang="en-US" sz="1400" dirty="0">
                <a:latin typeface="Times New Roman" panose="02020603050405020304" pitchFamily="18" charset="0"/>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MovieLens Dataset</a:t>
            </a:r>
            <a:r>
              <a:rPr lang="en-IN" altLang="en-US" sz="1400" dirty="0">
                <a:latin typeface="Times New Roman" panose="02020603050405020304" pitchFamily="18" charset="0"/>
                <a:cs typeface="Times New Roman" panose="02020603050405020304" pitchFamily="18" charset="0"/>
              </a:rPr>
              <a:t>:</a:t>
            </a:r>
            <a:r>
              <a:rPr lang="en-US" altLang="en-US" sz="1400" dirty="0">
                <a:latin typeface="Times New Roman" panose="02020603050405020304" pitchFamily="18" charset="0"/>
                <a:cs typeface="Times New Roman" panose="02020603050405020304" pitchFamily="18" charset="0"/>
              </a:rPr>
              <a:t>This dataset is widely used because it helps train Machine Learning models to understand user preferences and recommend personalized movies accurately. It is simple, well-structured, and suitable for beginner as well as advanced AI/ML projects.</a:t>
            </a:r>
            <a:endParaRPr lang="en-US" alt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Machine learning Models</a:t>
            </a:r>
            <a:endParaRPr lang="en-IN" sz="32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a:stretch>
            <a:fillRect/>
          </a:stretch>
        </p:blipFill>
        <p:spPr>
          <a:xfrm>
            <a:off x="457200" y="1682344"/>
            <a:ext cx="2670279" cy="3493311"/>
          </a:xfrm>
          <a:prstGeom prst="rect">
            <a:avLst/>
          </a:prstGeom>
        </p:spPr>
      </p:pic>
      <p:pic>
        <p:nvPicPr>
          <p:cNvPr id="8" name="Picture 7"/>
          <p:cNvPicPr>
            <a:picLocks noChangeAspect="1"/>
          </p:cNvPicPr>
          <p:nvPr/>
        </p:nvPicPr>
        <p:blipFill>
          <a:blip r:embed="rId2"/>
          <a:stretch>
            <a:fillRect/>
          </a:stretch>
        </p:blipFill>
        <p:spPr>
          <a:xfrm>
            <a:off x="3209515" y="1682344"/>
            <a:ext cx="2670279" cy="3493311"/>
          </a:xfrm>
          <a:prstGeom prst="rect">
            <a:avLst/>
          </a:prstGeom>
        </p:spPr>
      </p:pic>
      <p:pic>
        <p:nvPicPr>
          <p:cNvPr id="12" name="Picture 11"/>
          <p:cNvPicPr>
            <a:picLocks noChangeAspect="1"/>
          </p:cNvPicPr>
          <p:nvPr/>
        </p:nvPicPr>
        <p:blipFill>
          <a:blip r:embed="rId1"/>
          <a:stretch>
            <a:fillRect/>
          </a:stretch>
        </p:blipFill>
        <p:spPr>
          <a:xfrm>
            <a:off x="6016521" y="1682343"/>
            <a:ext cx="2670279" cy="3493311"/>
          </a:xfrm>
          <a:prstGeom prst="rect">
            <a:avLst/>
          </a:prstGeom>
        </p:spPr>
      </p:pic>
      <p:pic>
        <p:nvPicPr>
          <p:cNvPr id="14" name="Picture 13"/>
          <p:cNvPicPr>
            <a:picLocks noChangeAspect="1"/>
          </p:cNvPicPr>
          <p:nvPr/>
        </p:nvPicPr>
        <p:blipFill>
          <a:blip r:embed="rId3"/>
          <a:stretch>
            <a:fillRect/>
          </a:stretch>
        </p:blipFill>
        <p:spPr>
          <a:xfrm>
            <a:off x="621627" y="2646711"/>
            <a:ext cx="2560542" cy="2658086"/>
          </a:xfrm>
          <a:prstGeom prst="rect">
            <a:avLst/>
          </a:prstGeom>
        </p:spPr>
      </p:pic>
      <p:pic>
        <p:nvPicPr>
          <p:cNvPr id="21" name="Picture 20"/>
          <p:cNvPicPr>
            <a:picLocks noChangeAspect="1"/>
          </p:cNvPicPr>
          <p:nvPr/>
        </p:nvPicPr>
        <p:blipFill>
          <a:blip r:embed="rId4"/>
          <a:stretch>
            <a:fillRect/>
          </a:stretch>
        </p:blipFill>
        <p:spPr>
          <a:xfrm>
            <a:off x="3346598" y="2581778"/>
            <a:ext cx="2560542" cy="2658086"/>
          </a:xfrm>
          <a:prstGeom prst="rect">
            <a:avLst/>
          </a:prstGeom>
        </p:spPr>
      </p:pic>
      <p:sp>
        <p:nvSpPr>
          <p:cNvPr id="24" name="Text 10"/>
          <p:cNvSpPr/>
          <p:nvPr/>
        </p:nvSpPr>
        <p:spPr>
          <a:xfrm>
            <a:off x="3113591" y="2006576"/>
            <a:ext cx="2651760" cy="640080"/>
          </a:xfrm>
          <a:prstGeom prst="rect">
            <a:avLst/>
          </a:prstGeom>
          <a:noFill/>
        </p:spPr>
        <p:txBody>
          <a:bodyPr wrap="square" rtlCol="0" anchor="ctr"/>
          <a:lstStyle/>
          <a:p>
            <a:pPr algn="ctr"/>
            <a:r>
              <a:rPr lang="en-US" sz="1400" b="1" dirty="0">
                <a:solidFill>
                  <a:srgbClr val="CC0000"/>
                </a:solidFill>
                <a:latin typeface="Times New Roman" panose="02020603050405020304" pitchFamily="18" charset="0"/>
                <a:ea typeface="Times New Roman" panose="02020603050405020304" pitchFamily="34" charset="-122"/>
                <a:cs typeface="Times New Roman" panose="02020603050405020304" pitchFamily="34" charset="-120"/>
              </a:rPr>
              <a:t>Decision</a:t>
            </a:r>
            <a:endParaRPr lang="en-US" sz="1400" dirty="0">
              <a:solidFill>
                <a:prstClr val="black"/>
              </a:solidFill>
              <a:latin typeface="Calibri" panose="020F0502020204030204"/>
            </a:endParaRPr>
          </a:p>
          <a:p>
            <a:pPr algn="ctr"/>
            <a:r>
              <a:rPr lang="en-US" sz="1400" b="1" dirty="0">
                <a:solidFill>
                  <a:srgbClr val="CC0000"/>
                </a:solidFill>
                <a:latin typeface="Times New Roman" panose="02020603050405020304" pitchFamily="18" charset="0"/>
                <a:ea typeface="Times New Roman" panose="02020603050405020304" pitchFamily="34" charset="-122"/>
                <a:cs typeface="Times New Roman" panose="02020603050405020304" pitchFamily="34" charset="-120"/>
              </a:rPr>
              <a:t>Tree</a:t>
            </a:r>
            <a:endParaRPr lang="en-US" sz="1400" dirty="0">
              <a:solidFill>
                <a:prstClr val="black"/>
              </a:solidFill>
              <a:latin typeface="Calibri" panose="020F0502020204030204"/>
            </a:endParaRPr>
          </a:p>
        </p:txBody>
      </p:sp>
      <p:pic>
        <p:nvPicPr>
          <p:cNvPr id="26" name="Picture 25"/>
          <p:cNvPicPr>
            <a:picLocks noChangeAspect="1"/>
          </p:cNvPicPr>
          <p:nvPr/>
        </p:nvPicPr>
        <p:blipFill>
          <a:blip r:embed="rId5"/>
          <a:stretch>
            <a:fillRect/>
          </a:stretch>
        </p:blipFill>
        <p:spPr>
          <a:xfrm>
            <a:off x="6262985" y="2581778"/>
            <a:ext cx="2560542" cy="2658086"/>
          </a:xfrm>
          <a:prstGeom prst="rect">
            <a:avLst/>
          </a:prstGeom>
        </p:spPr>
      </p:pic>
      <p:pic>
        <p:nvPicPr>
          <p:cNvPr id="30" name="Picture 29"/>
          <p:cNvPicPr>
            <a:picLocks noChangeAspect="1"/>
          </p:cNvPicPr>
          <p:nvPr/>
        </p:nvPicPr>
        <p:blipFill>
          <a:blip r:embed="rId6"/>
          <a:stretch>
            <a:fillRect/>
          </a:stretch>
        </p:blipFill>
        <p:spPr>
          <a:xfrm>
            <a:off x="5902078" y="2060778"/>
            <a:ext cx="2651990" cy="591363"/>
          </a:xfrm>
          <a:prstGeom prst="rect">
            <a:avLst/>
          </a:prstGeom>
        </p:spPr>
      </p:pic>
      <p:pic>
        <p:nvPicPr>
          <p:cNvPr id="16" name="Picture 15"/>
          <p:cNvPicPr>
            <a:picLocks noChangeAspect="1"/>
          </p:cNvPicPr>
          <p:nvPr/>
        </p:nvPicPr>
        <p:blipFill>
          <a:blip r:embed="rId7"/>
          <a:stretch>
            <a:fillRect/>
          </a:stretch>
        </p:blipFill>
        <p:spPr>
          <a:xfrm>
            <a:off x="347818" y="2006576"/>
            <a:ext cx="2651990" cy="6401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solidFill>
                  <a:srgbClr val="FFFFFF"/>
                </a:solidFill>
                <a:latin typeface="Times New Roman" panose="02020603050405020304" pitchFamily="18" charset="0"/>
                <a:ea typeface="Times New Roman" panose="02020603050405020304" pitchFamily="34" charset="-122"/>
                <a:cs typeface="Times New Roman" panose="02020603050405020304" pitchFamily="34" charset="-120"/>
              </a:rPr>
              <a:t>Experimental Methodology</a:t>
            </a:r>
            <a:br>
              <a:rPr lang="en-US" sz="2800" dirty="0"/>
            </a:br>
            <a:endParaRPr lang="en-IN" sz="2800" dirty="0"/>
          </a:p>
        </p:txBody>
      </p:sp>
      <p:sp>
        <p:nvSpPr>
          <p:cNvPr id="3" name="Text Box 2"/>
          <p:cNvSpPr txBox="1"/>
          <p:nvPr/>
        </p:nvSpPr>
        <p:spPr>
          <a:xfrm>
            <a:off x="178435" y="1242060"/>
            <a:ext cx="8847455" cy="5123180"/>
          </a:xfrm>
          <a:prstGeom prst="rect">
            <a:avLst/>
          </a:prstGeom>
          <a:noFill/>
        </p:spPr>
        <p:txBody>
          <a:bodyPr wrap="square" rtlCol="0" anchor="t">
            <a:noAutofit/>
          </a:bodyPr>
          <a:p>
            <a:r>
              <a:rPr lang="en-US" altLang="en-US" sz="1400">
                <a:latin typeface="Times New Roman" panose="02020603050405020304" pitchFamily="18" charset="0"/>
                <a:cs typeface="Times New Roman" panose="02020603050405020304" pitchFamily="18" charset="0"/>
              </a:rPr>
              <a:t>1. Data Collection</a:t>
            </a:r>
            <a:r>
              <a:rPr lang="en-IN" altLang="en-US" sz="1400">
                <a:latin typeface="Times New Roman" panose="02020603050405020304" pitchFamily="18" charset="0"/>
                <a:cs typeface="Times New Roman" panose="02020603050405020304" pitchFamily="18" charset="0"/>
              </a:rPr>
              <a:t> :</a:t>
            </a:r>
            <a:r>
              <a:rPr lang="en-US" altLang="en-US" sz="1400">
                <a:latin typeface="Times New Roman" panose="02020603050405020304" pitchFamily="18" charset="0"/>
                <a:cs typeface="Times New Roman" panose="02020603050405020304" pitchFamily="18" charset="0"/>
              </a:rPr>
              <a:t>Data collection is the process of gathering movie-related information such as movie names, genres, ratings, and user watch history.</a:t>
            </a:r>
            <a:endParaRPr lang="en-US" altLang="en-US" sz="1400">
              <a:latin typeface="Times New Roman" panose="02020603050405020304" pitchFamily="18" charset="0"/>
              <a:cs typeface="Times New Roman" panose="02020603050405020304" pitchFamily="18" charset="0"/>
            </a:endParaRPr>
          </a:p>
          <a:p>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The MovieLens dataset was used for the project.</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The dataset contains movie ratings, movie names, genres, and user details.</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Real user rating data was used for training the recommendation model.</a:t>
            </a:r>
            <a:endParaRPr lang="en-US" altLang="en-US" sz="1400">
              <a:latin typeface="Times New Roman" panose="02020603050405020304" pitchFamily="18" charset="0"/>
              <a:cs typeface="Times New Roman" panose="02020603050405020304" pitchFamily="18" charset="0"/>
            </a:endParaRPr>
          </a:p>
          <a:p>
            <a:endParaRPr 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2. Data Preprocessing</a:t>
            </a:r>
            <a:r>
              <a:rPr lang="en-IN" altLang="en-US" sz="1400">
                <a:latin typeface="Times New Roman" panose="02020603050405020304" pitchFamily="18" charset="0"/>
                <a:cs typeface="Times New Roman" panose="02020603050405020304" pitchFamily="18" charset="0"/>
              </a:rPr>
              <a:t> :</a:t>
            </a:r>
            <a:r>
              <a:rPr lang="en-US" altLang="en-US" sz="1400">
                <a:latin typeface="Times New Roman" panose="02020603050405020304" pitchFamily="18" charset="0"/>
                <a:cs typeface="Times New Roman" panose="02020603050405020304" pitchFamily="18" charset="0"/>
              </a:rPr>
              <a:t>Data preprocessing means cleaning and preparing the dataset before applying Machine Learning algorithms. This includes removing missing values, duplicate data, and selecting important movie features for better recommendation accuracy.</a:t>
            </a:r>
            <a:endParaRPr lang="en-US" altLang="en-US" sz="1400">
              <a:latin typeface="Times New Roman" panose="02020603050405020304" pitchFamily="18" charset="0"/>
              <a:cs typeface="Times New Roman" panose="02020603050405020304" pitchFamily="18" charset="0"/>
            </a:endParaRPr>
          </a:p>
          <a:p>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Missing and duplicate values were removed from the dataset.</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Important movie features such as genres and ratings were selected.</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Data was cleaned and prepared for better recommendation accuracy.</a:t>
            </a:r>
            <a:endParaRPr lang="en-US" altLang="en-US" sz="1400">
              <a:latin typeface="Times New Roman" panose="02020603050405020304" pitchFamily="18" charset="0"/>
              <a:cs typeface="Times New Roman" panose="02020603050405020304" pitchFamily="18" charset="0"/>
            </a:endParaRPr>
          </a:p>
          <a:p>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3. Model Implementation and Evaluation</a:t>
            </a:r>
            <a:r>
              <a:rPr lang="en-IN" altLang="en-US" sz="1400">
                <a:latin typeface="Times New Roman" panose="02020603050405020304" pitchFamily="18" charset="0"/>
                <a:cs typeface="Times New Roman" panose="02020603050405020304" pitchFamily="18" charset="0"/>
              </a:rPr>
              <a:t> :</a:t>
            </a:r>
            <a:r>
              <a:rPr lang="en-US" altLang="en-US" sz="1400">
                <a:latin typeface="Times New Roman" panose="02020603050405020304" pitchFamily="18" charset="0"/>
                <a:cs typeface="Times New Roman" panose="02020603050405020304" pitchFamily="18" charset="0"/>
              </a:rPr>
              <a:t>Model implementation is the process of applying recommendation techniques such as Content-Based Filtering and Collaborative Filtering to generate movie suggestions. Evaluation is done to check how accurately the system recommends movies to users.</a:t>
            </a:r>
            <a:endParaRPr lang="en-US" altLang="en-US" sz="1400">
              <a:latin typeface="Times New Roman" panose="02020603050405020304" pitchFamily="18" charset="0"/>
              <a:cs typeface="Times New Roman" panose="02020603050405020304" pitchFamily="18" charset="0"/>
            </a:endParaRPr>
          </a:p>
          <a:p>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Content-Based Filtering and Collaborative Filtering techniques were applied.</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Cosine Similarity was used to find similar movies.</a:t>
            </a:r>
            <a:endParaRPr lang="en-US" altLang="en-US" sz="14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rPr>
              <a:t>The system performance was evaluated based on recommendation accuracy and user relevance.</a:t>
            </a:r>
            <a:endParaRPr lang="en-US" altLang="en-US"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sz="2800" b="1" dirty="0">
                <a:solidFill>
                  <a:srgbClr val="FFFFFF"/>
                </a:solidFill>
                <a:latin typeface="Times New Roman" panose="02020603050405020304" pitchFamily="18" charset="0"/>
                <a:ea typeface="Times New Roman" panose="02020603050405020304" pitchFamily="34" charset="-122"/>
                <a:cs typeface="Times New Roman" panose="02020603050405020304" pitchFamily="34" charset="-120"/>
              </a:rPr>
            </a:br>
            <a:r>
              <a:rPr lang="en-US" sz="2800" b="1" dirty="0">
                <a:latin typeface="Times New Roman" panose="02020603050405020304" pitchFamily="18" charset="0"/>
                <a:ea typeface="Times New Roman" panose="02020603050405020304" pitchFamily="34" charset="-122"/>
                <a:cs typeface="Times New Roman" panose="02020603050405020304" pitchFamily="34" charset="-120"/>
              </a:rPr>
              <a:t>Results: Model Performance Comparison</a:t>
            </a:r>
            <a:br>
              <a:rPr lang="en-US" dirty="0"/>
            </a:br>
            <a:endParaRPr lang="en-IN" dirty="0"/>
          </a:p>
        </p:txBody>
      </p:sp>
      <p:sp>
        <p:nvSpPr>
          <p:cNvPr id="3" name="Subtitle 2"/>
          <p:cNvSpPr>
            <a:spLocks noGrp="1"/>
          </p:cNvSpPr>
          <p:nvPr>
            <p:ph type="subTitle"/>
          </p:nvPr>
        </p:nvSpPr>
        <p:spPr>
          <a:xfrm>
            <a:off x="75565" y="1169035"/>
            <a:ext cx="8201025" cy="4735195"/>
          </a:xfrm>
        </p:spPr>
        <p:txBody>
          <a:bodyPr/>
          <a:lstStyle/>
          <a:p>
            <a:endParaRPr lang="en-IN" dirty="0"/>
          </a:p>
        </p:txBody>
      </p:sp>
      <p:pic>
        <p:nvPicPr>
          <p:cNvPr id="7" name="Picture 6"/>
          <p:cNvPicPr>
            <a:picLocks noChangeAspect="1"/>
          </p:cNvPicPr>
          <p:nvPr/>
        </p:nvPicPr>
        <p:blipFill>
          <a:blip r:embed="rId1"/>
          <a:stretch>
            <a:fillRect/>
          </a:stretch>
        </p:blipFill>
        <p:spPr>
          <a:xfrm>
            <a:off x="75565" y="1249680"/>
            <a:ext cx="8338820" cy="40830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Why </a:t>
            </a:r>
            <a:r>
              <a:rPr lang="en-IN" altLang="en-US" sz="2800" b="1" dirty="0">
                <a:latin typeface="Times New Roman" panose="02020603050405020304" pitchFamily="18" charset="0"/>
                <a:cs typeface="Times New Roman" panose="02020603050405020304" pitchFamily="18" charset="0"/>
              </a:rPr>
              <a:t>Collaborative filtering achieved highest percentage?</a:t>
            </a:r>
            <a:br>
              <a:rPr lang="en-US" sz="2800" dirty="0">
                <a:solidFill>
                  <a:schemeClr val="bg1"/>
                </a:solidFill>
                <a:latin typeface="Times New Roman" panose="02020603050405020304" pitchFamily="18" charset="0"/>
                <a:cs typeface="Times New Roman" panose="02020603050405020304" pitchFamily="18" charset="0"/>
              </a:rPr>
            </a:br>
            <a:endParaRPr lang="en-IN" sz="2800" dirty="0"/>
          </a:p>
        </p:txBody>
      </p:sp>
      <p:sp>
        <p:nvSpPr>
          <p:cNvPr id="3" name="Subtitle 2"/>
          <p:cNvSpPr>
            <a:spLocks noGrp="1"/>
          </p:cNvSpPr>
          <p:nvPr>
            <p:ph type="subTitle"/>
          </p:nvPr>
        </p:nvSpPr>
        <p:spPr>
          <a:xfrm>
            <a:off x="131975" y="914040"/>
            <a:ext cx="8554466" cy="6278612"/>
          </a:xfrm>
        </p:spPr>
        <p:txBody>
          <a:bodyPr/>
          <a:lstStyle/>
          <a:p>
            <a:r>
              <a:rPr lang="en-US" altLang="en-US" sz="1400" b="1" dirty="0">
                <a:latin typeface="Times New Roman" panose="02020603050405020304" pitchFamily="18" charset="0"/>
                <a:cs typeface="Times New Roman" panose="02020603050405020304" pitchFamily="18" charset="0"/>
              </a:rPr>
              <a:t>Provides Highly Personalized Recommendations</a:t>
            </a:r>
            <a:endParaRPr lang="en-US" altLang="en-US" sz="1400" b="1"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Collaborative Filtering studies the behavior and ratings of users with similar interests. If two users like similar movies, the system recommends movies liked by one user to the other. This makes recommendations more accurate and personalized.</a:t>
            </a:r>
            <a:endParaRPr lang="en-US" altLang="en-US" sz="1400" dirty="0">
              <a:latin typeface="Times New Roman" panose="02020603050405020304" pitchFamily="18" charset="0"/>
              <a:cs typeface="Times New Roman" panose="02020603050405020304" pitchFamily="18" charset="0"/>
            </a:endParaRPr>
          </a:p>
          <a:p>
            <a:r>
              <a:rPr lang="en-US" altLang="en-US" sz="1400" b="1" dirty="0">
                <a:latin typeface="Times New Roman" panose="02020603050405020304" pitchFamily="18" charset="0"/>
                <a:cs typeface="Times New Roman" panose="02020603050405020304" pitchFamily="18" charset="0"/>
              </a:rPr>
              <a:t>Learns from Real User Behavior</a:t>
            </a:r>
            <a:endParaRPr lang="en-US" altLang="en-US" sz="1400" b="1"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Instead of depending only on movie genres or descriptions, Collaborative Filtering uses real user interactions such as ratings, watch history, clicks, and likes. Because it learns from actual user behavior, the recommendations become more realistic and useful. </a:t>
            </a:r>
            <a:endParaRPr lang="en-US" altLang="en-US" sz="1400" dirty="0">
              <a:latin typeface="Times New Roman" panose="02020603050405020304" pitchFamily="18" charset="0"/>
              <a:cs typeface="Times New Roman" panose="02020603050405020304" pitchFamily="18" charset="0"/>
            </a:endParaRPr>
          </a:p>
          <a:p>
            <a:r>
              <a:rPr lang="en-US" altLang="en-US" sz="1400" b="1" dirty="0">
                <a:latin typeface="Times New Roman" panose="02020603050405020304" pitchFamily="18" charset="0"/>
                <a:cs typeface="Times New Roman" panose="02020603050405020304" pitchFamily="18" charset="0"/>
              </a:rPr>
              <a:t>Can Recommend New and Diverse Movies</a:t>
            </a:r>
            <a:endParaRPr lang="en-US" altLang="en-US" sz="1400" b="1"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The model can suggest movies that users may not discover on their own. Even if two movies are different in genre or storyline, the system may still recommend them if similar users enjoyed both movies. This improves recommendation diversity. </a:t>
            </a:r>
            <a:endParaRPr lang="en-US" altLang="en-US" sz="1400" dirty="0">
              <a:latin typeface="Times New Roman" panose="02020603050405020304" pitchFamily="18" charset="0"/>
              <a:cs typeface="Times New Roman" panose="02020603050405020304" pitchFamily="18" charset="0"/>
            </a:endParaRPr>
          </a:p>
          <a:p>
            <a:r>
              <a:rPr lang="en-US" altLang="en-US" sz="1400" b="1" dirty="0">
                <a:latin typeface="Times New Roman" panose="02020603050405020304" pitchFamily="18" charset="0"/>
                <a:cs typeface="Times New Roman" panose="02020603050405020304" pitchFamily="18" charset="0"/>
              </a:rPr>
              <a:t>Works Very Well on Large Streaming Platforms</a:t>
            </a:r>
            <a:endParaRPr lang="en-US" altLang="en-US" sz="1400" b="1"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Platforms like Netflix and Amazon use Collaborative Filtering because it performs better when large amounts of user data are available. As more users interact with the platform, the model becomes smarter and more accurate over time. </a:t>
            </a:r>
            <a:endParaRPr lang="en-US" altLang="en-US" sz="1400" dirty="0">
              <a:latin typeface="Times New Roman" panose="02020603050405020304" pitchFamily="18" charset="0"/>
              <a:cs typeface="Times New Roman" panose="02020603050405020304" pitchFamily="18" charset="0"/>
            </a:endParaRPr>
          </a:p>
          <a:p>
            <a:r>
              <a:rPr lang="en-US" altLang="en-US" sz="1400" b="1" dirty="0">
                <a:latin typeface="Times New Roman" panose="02020603050405020304" pitchFamily="18" charset="0"/>
                <a:cs typeface="Times New Roman" panose="02020603050405020304" pitchFamily="18" charset="0"/>
              </a:rPr>
              <a:t>Captures Hidden User Preferences</a:t>
            </a:r>
            <a:endParaRPr lang="en-US" altLang="en-US" sz="1400" b="1"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Collaborative Filtering can identify patterns that are difficult to detect manually. For example, users who enjoy certain thriller movies may also like psychological dramas, even if the movie genres are different. This helps the system understand deeper user interests. </a:t>
            </a:r>
            <a:endParaRPr lang="en-US" altLang="en-US" sz="1400" dirty="0"/>
          </a:p>
          <a:p>
            <a:endParaRPr lang="en-US" altLang="en-US" sz="1600" dirty="0"/>
          </a:p>
          <a:p>
            <a:endParaRPr lang="en-US" altLang="en-US" sz="1600" dirty="0"/>
          </a:p>
          <a:p>
            <a:endParaRPr lang="en-US" alt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sz="2800" b="1" dirty="0">
                <a:solidFill>
                  <a:srgbClr val="FFFFFF"/>
                </a:solidFill>
                <a:latin typeface="Times New Roman" panose="02020603050405020304" pitchFamily="18" charset="0"/>
                <a:ea typeface="Times New Roman" panose="02020603050405020304" pitchFamily="34" charset="-122"/>
                <a:cs typeface="Times New Roman" panose="02020603050405020304" pitchFamily="34" charset="-120"/>
              </a:rPr>
            </a:br>
            <a:r>
              <a:rPr lang="en-US" sz="2800" b="1" dirty="0">
                <a:latin typeface="Times New Roman" panose="02020603050405020304" pitchFamily="18" charset="0"/>
                <a:ea typeface="Times New Roman" panose="02020603050405020304" pitchFamily="34" charset="-122"/>
                <a:cs typeface="Times New Roman" panose="02020603050405020304" pitchFamily="34" charset="-120"/>
              </a:rPr>
              <a:t>Results: Feature Importance Analysis</a:t>
            </a:r>
            <a:br>
              <a:rPr lang="en-US" sz="2800" dirty="0"/>
            </a:br>
            <a:endParaRPr lang="en-IN" sz="2800" dirty="0"/>
          </a:p>
        </p:txBody>
      </p:sp>
      <p:sp>
        <p:nvSpPr>
          <p:cNvPr id="3" name="Subtitle 2"/>
          <p:cNvSpPr>
            <a:spLocks noGrp="1"/>
          </p:cNvSpPr>
          <p:nvPr>
            <p:ph type="subTitle"/>
          </p:nvPr>
        </p:nvSpPr>
        <p:spPr>
          <a:xfrm>
            <a:off x="0" y="914040"/>
            <a:ext cx="8686440" cy="5769564"/>
          </a:xfrm>
        </p:spPr>
        <p:txBody>
          <a:bodyPr/>
          <a:lstStyle/>
          <a:p>
            <a:r>
              <a:rPr lang="en-US" b="1" dirty="0">
                <a:solidFill>
                  <a:srgbClr val="FFFFFF"/>
                </a:solidFill>
                <a:latin typeface="Times New Roman" panose="02020603050405020304" pitchFamily="18" charset="0"/>
                <a:ea typeface="Times New Roman" panose="02020603050405020304" pitchFamily="34" charset="-122"/>
                <a:cs typeface="Times New Roman" panose="02020603050405020304" pitchFamily="34" charset="-120"/>
              </a:rPr>
              <a:t>Results: Feature Importance Analysis</a:t>
            </a:r>
            <a:endParaRPr lang="en-US" dirty="0"/>
          </a:p>
          <a:p>
            <a:endParaRPr lang="en-IN" dirty="0"/>
          </a:p>
        </p:txBody>
      </p:sp>
      <p:sp>
        <p:nvSpPr>
          <p:cNvPr id="6" name="TextBox 5"/>
          <p:cNvSpPr txBox="1"/>
          <p:nvPr/>
        </p:nvSpPr>
        <p:spPr>
          <a:xfrm>
            <a:off x="5182387" y="1620677"/>
            <a:ext cx="4689834" cy="369332"/>
          </a:xfrm>
          <a:prstGeom prst="rect">
            <a:avLst/>
          </a:prstGeom>
          <a:noFill/>
        </p:spPr>
        <p:txBody>
          <a:bodyPr wrap="square">
            <a:spAutoFit/>
          </a:bodyPr>
          <a:lstStyle/>
          <a:p>
            <a:pPr marL="0" indent="0">
              <a:buNone/>
            </a:pPr>
            <a:r>
              <a:rPr lang="en-US" sz="1800" b="1" dirty="0">
                <a:solidFill>
                  <a:srgbClr val="CC0000"/>
                </a:solidFill>
                <a:latin typeface="Times New Roman" panose="02020603050405020304" pitchFamily="18" charset="0"/>
                <a:ea typeface="Times New Roman" panose="02020603050405020304" pitchFamily="34" charset="-122"/>
                <a:cs typeface="Times New Roman" panose="02020603050405020304" pitchFamily="34" charset="-120"/>
              </a:rPr>
              <a:t>Insights</a:t>
            </a:r>
            <a:endParaRPr lang="en-US" sz="1800" dirty="0"/>
          </a:p>
        </p:txBody>
      </p:sp>
      <p:pic>
        <p:nvPicPr>
          <p:cNvPr id="7" name="Picture 6"/>
          <p:cNvPicPr>
            <a:picLocks noChangeAspect="1"/>
          </p:cNvPicPr>
          <p:nvPr/>
        </p:nvPicPr>
        <p:blipFill>
          <a:blip r:embed="rId1"/>
          <a:stretch>
            <a:fillRect/>
          </a:stretch>
        </p:blipFill>
        <p:spPr>
          <a:xfrm>
            <a:off x="1495425" y="1343025"/>
            <a:ext cx="6153150" cy="41719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a:t>
            </a:r>
            <a:endParaRPr lang="en-IN" dirty="0"/>
          </a:p>
        </p:txBody>
      </p:sp>
      <p:sp>
        <p:nvSpPr>
          <p:cNvPr id="7" name="TextBox 6"/>
          <p:cNvSpPr txBox="1"/>
          <p:nvPr/>
        </p:nvSpPr>
        <p:spPr>
          <a:xfrm>
            <a:off x="0" y="989965"/>
            <a:ext cx="8291195" cy="4699635"/>
          </a:xfrm>
          <a:prstGeom prst="rect">
            <a:avLst/>
          </a:prstGeom>
          <a:noFill/>
        </p:spPr>
        <p:txBody>
          <a:bodyPr wrap="square">
            <a:noAutofit/>
          </a:bodyPr>
          <a:lstStyle/>
          <a:p>
            <a:r>
              <a:rPr lang="en-US" altLang="en-US" sz="1400" b="1" dirty="0">
                <a:latin typeface="Times New Roman" panose="02020603050405020304" pitchFamily="18" charset="0"/>
                <a:cs typeface="Times New Roman" panose="02020603050405020304" pitchFamily="18" charset="0"/>
              </a:rPr>
              <a:t>1. OTT and Streaming Platforms</a:t>
            </a:r>
            <a:endParaRPr lang="en-US" altLang="en-US" sz="1400" b="1" dirty="0">
              <a:latin typeface="Times New Roman" panose="02020603050405020304" pitchFamily="18" charset="0"/>
              <a:cs typeface="Times New Roman" panose="02020603050405020304" pitchFamily="18" charset="0"/>
            </a:endParaRPr>
          </a:p>
          <a:p>
            <a:endParaRPr lang="en-US" altLang="en-US" sz="1400" b="1"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Movie recommendation systems are widely used in streaming platforms like Netflix and Amazon Prime Video to improve user experience. </a:t>
            </a:r>
            <a:endParaRPr lang="en-US" altLang="en-US" sz="1400" dirty="0">
              <a:latin typeface="Times New Roman" panose="02020603050405020304" pitchFamily="18" charset="0"/>
              <a:cs typeface="Times New Roman" panose="02020603050405020304" pitchFamily="18" charset="0"/>
            </a:endParaRPr>
          </a:p>
          <a:p>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Recommends movies and web series based on user interests</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Increases user engagement and watch time</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Helps users quickly find content they may enjoy</a:t>
            </a:r>
            <a:endParaRPr lang="en-US" altLang="en-US" sz="1400" dirty="0">
              <a:latin typeface="Times New Roman" panose="02020603050405020304" pitchFamily="18" charset="0"/>
              <a:cs typeface="Times New Roman" panose="02020603050405020304" pitchFamily="18" charset="0"/>
            </a:endParaRPr>
          </a:p>
          <a:p>
            <a:endParaRPr lang="en-US" altLang="en-US" sz="1400" b="1" dirty="0">
              <a:latin typeface="Times New Roman" panose="02020603050405020304" pitchFamily="18" charset="0"/>
              <a:cs typeface="Times New Roman" panose="02020603050405020304" pitchFamily="18" charset="0"/>
            </a:endParaRPr>
          </a:p>
          <a:p>
            <a:r>
              <a:rPr lang="en-US" altLang="en-US" sz="1400" b="1" dirty="0">
                <a:latin typeface="Times New Roman" panose="02020603050405020304" pitchFamily="18" charset="0"/>
                <a:cs typeface="Times New Roman" panose="02020603050405020304" pitchFamily="18" charset="0"/>
              </a:rPr>
              <a:t>2. Entertainment and Media Applications</a:t>
            </a:r>
            <a:endParaRPr lang="en-US" altLang="en-US" sz="1400" b="1" dirty="0">
              <a:latin typeface="Times New Roman" panose="02020603050405020304" pitchFamily="18" charset="0"/>
              <a:cs typeface="Times New Roman" panose="02020603050405020304" pitchFamily="18" charset="0"/>
            </a:endParaRPr>
          </a:p>
          <a:p>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Recommendation systems are used in entertainment apps to provide personalized movie suggestions according to user behavior and ratings. (geeksforgeeks.org)</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Suggests movies based on genres and watch history</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Provides trending and popular movie recommendations</a:t>
            </a:r>
            <a:endParaRPr lang="en-US" altLang="en-US" sz="1400" dirty="0">
              <a:latin typeface="Times New Roman" panose="02020603050405020304" pitchFamily="18" charset="0"/>
              <a:cs typeface="Times New Roman" panose="02020603050405020304" pitchFamily="18" charset="0"/>
            </a:endParaRPr>
          </a:p>
          <a:p>
            <a:r>
              <a:rPr lang="en-US" altLang="en-US" sz="1400" dirty="0">
                <a:latin typeface="Times New Roman" panose="02020603050405020304" pitchFamily="18" charset="0"/>
                <a:cs typeface="Times New Roman" panose="02020603050405020304" pitchFamily="18" charset="0"/>
              </a:rPr>
              <a:t>Improves overall user satisfaction</a:t>
            </a:r>
            <a:r>
              <a:rPr lang="en-IN" altLang="en-US" sz="1400" dirty="0">
                <a:latin typeface="Times New Roman" panose="02020603050405020304" pitchFamily="18" charset="0"/>
                <a:cs typeface="Times New Roman" panose="02020603050405020304" pitchFamily="18" charset="0"/>
              </a:rPr>
              <a:t> </a:t>
            </a:r>
            <a:endParaRPr lang="en-IN" alt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Conclusion and Future Scope</a:t>
            </a:r>
            <a:endParaRPr lang="en-IN" sz="3200" dirty="0"/>
          </a:p>
        </p:txBody>
      </p:sp>
      <p:sp>
        <p:nvSpPr>
          <p:cNvPr id="3" name="Text Box 2"/>
          <p:cNvSpPr txBox="1"/>
          <p:nvPr/>
        </p:nvSpPr>
        <p:spPr>
          <a:xfrm>
            <a:off x="227965" y="1230630"/>
            <a:ext cx="8400415" cy="4739005"/>
          </a:xfrm>
          <a:prstGeom prst="rect">
            <a:avLst/>
          </a:prstGeom>
        </p:spPr>
        <p:txBody>
          <a:bodyPr wrap="square">
            <a:noAutofit/>
          </a:bodyPr>
          <a:p>
            <a:pPr>
              <a:spcAft>
                <a:spcPct val="60000"/>
              </a:spcAft>
            </a:pPr>
            <a:r>
              <a:rPr lang="en-US" altLang="en-US" sz="1600">
                <a:latin typeface="Times New Roman" panose="02020603050405020304" pitchFamily="18" charset="0"/>
                <a:cs typeface="Times New Roman" panose="02020603050405020304" pitchFamily="18" charset="0"/>
              </a:rPr>
              <a:t>Future Scope</a:t>
            </a:r>
            <a:endParaRPr lang="en-US" altLang="en-US" sz="1600">
              <a:latin typeface="Times New Roman" panose="02020603050405020304" pitchFamily="18" charset="0"/>
              <a:cs typeface="Times New Roman" panose="02020603050405020304" pitchFamily="18" charset="0"/>
            </a:endParaRPr>
          </a:p>
          <a:p>
            <a:pPr>
              <a:spcAft>
                <a:spcPct val="60000"/>
              </a:spcAft>
            </a:pPr>
            <a:r>
              <a:rPr lang="en-US" altLang="en-US" sz="1600">
                <a:latin typeface="Times New Roman" panose="02020603050405020304" pitchFamily="18" charset="0"/>
                <a:cs typeface="Times New Roman" panose="02020603050405020304" pitchFamily="18" charset="0"/>
              </a:rPr>
              <a:t>The system can be improved using Deep Learning and Neural Networks for more accurate and smarter movie recommendations.</a:t>
            </a:r>
            <a:endParaRPr lang="en-US" altLang="en-US" sz="1600">
              <a:latin typeface="Times New Roman" panose="02020603050405020304" pitchFamily="18" charset="0"/>
              <a:cs typeface="Times New Roman" panose="02020603050405020304" pitchFamily="18" charset="0"/>
            </a:endParaRPr>
          </a:p>
          <a:p>
            <a:pPr>
              <a:spcAft>
                <a:spcPct val="60000"/>
              </a:spcAft>
            </a:pPr>
            <a:r>
              <a:rPr lang="en-US" altLang="en-US" sz="1600">
                <a:latin typeface="Times New Roman" panose="02020603050405020304" pitchFamily="18" charset="0"/>
                <a:cs typeface="Times New Roman" panose="02020603050405020304" pitchFamily="18" charset="0"/>
              </a:rPr>
              <a:t>Future recommendation systems may provide mood-based suggestions by analyzing user emotions and interests.</a:t>
            </a:r>
            <a:endParaRPr lang="en-US" altLang="en-US" sz="1600">
              <a:latin typeface="Times New Roman" panose="02020603050405020304" pitchFamily="18" charset="0"/>
              <a:cs typeface="Times New Roman" panose="02020603050405020304" pitchFamily="18" charset="0"/>
            </a:endParaRPr>
          </a:p>
          <a:p>
            <a:pPr>
              <a:spcAft>
                <a:spcPct val="60000"/>
              </a:spcAft>
            </a:pPr>
            <a:r>
              <a:rPr lang="en-US" altLang="en-US" sz="1600">
                <a:latin typeface="Times New Roman" panose="02020603050405020304" pitchFamily="18" charset="0"/>
                <a:cs typeface="Times New Roman" panose="02020603050405020304" pitchFamily="18" charset="0"/>
              </a:rPr>
              <a:t>Voice assistants and AI chatbots can be integrated to make movie searching easier and more interactive.</a:t>
            </a:r>
            <a:endParaRPr lang="en-US" altLang="en-US" sz="1600">
              <a:latin typeface="Times New Roman" panose="02020603050405020304" pitchFamily="18" charset="0"/>
              <a:cs typeface="Times New Roman" panose="02020603050405020304" pitchFamily="18" charset="0"/>
            </a:endParaRPr>
          </a:p>
          <a:p>
            <a:pPr>
              <a:spcAft>
                <a:spcPct val="60000"/>
              </a:spcAft>
            </a:pPr>
            <a:r>
              <a:rPr lang="en-US" altLang="en-US" sz="1600">
                <a:latin typeface="Times New Roman" panose="02020603050405020304" pitchFamily="18" charset="0"/>
                <a:cs typeface="Times New Roman" panose="02020603050405020304" pitchFamily="18" charset="0"/>
              </a:rPr>
              <a:t>Real-time learning can help the system update recommendations instantly based on user activity and watch history</a:t>
            </a:r>
            <a:r>
              <a:rPr lang="en-US" altLang="en-US" sz="1600"/>
              <a:t>.</a:t>
            </a:r>
            <a:endParaRPr lang="en-US" altLang="en-US" sz="1600"/>
          </a:p>
          <a:p>
            <a:pPr>
              <a:spcAft>
                <a:spcPct val="60000"/>
              </a:spcAft>
            </a:pPr>
            <a:r>
              <a:rPr lang="en-US" altLang="en-US" sz="1400" b="1">
                <a:latin typeface="Times New Roman" panose="02020603050405020304" pitchFamily="18" charset="0"/>
                <a:cs typeface="Times New Roman" panose="02020603050405020304" pitchFamily="18" charset="0"/>
              </a:rPr>
              <a:t>Conclusion</a:t>
            </a:r>
            <a:r>
              <a:rPr lang="en-IN" altLang="en-US" sz="1400" b="1">
                <a:latin typeface="Times New Roman" panose="02020603050405020304" pitchFamily="18" charset="0"/>
                <a:cs typeface="Times New Roman" panose="02020603050405020304" pitchFamily="18" charset="0"/>
              </a:rPr>
              <a:t> :</a:t>
            </a:r>
            <a:endParaRPr lang="en-US" altLang="en-US" sz="1400" b="1">
              <a:latin typeface="Times New Roman" panose="02020603050405020304" pitchFamily="18" charset="0"/>
              <a:cs typeface="Times New Roman" panose="02020603050405020304" pitchFamily="18" charset="0"/>
            </a:endParaRPr>
          </a:p>
          <a:p>
            <a:pPr>
              <a:spcAft>
                <a:spcPct val="60000"/>
              </a:spcAft>
            </a:pPr>
            <a:r>
              <a:rPr lang="en-US" altLang="en-US" sz="1400">
                <a:latin typeface="Times New Roman" panose="02020603050405020304" pitchFamily="18" charset="0"/>
                <a:cs typeface="Times New Roman" panose="02020603050405020304" pitchFamily="18" charset="0"/>
              </a:rPr>
              <a:t>The Movie Recommendation System using Artificial Intelligence and Machine Learning successfully helps users discover movies according to their interests and viewing behavior. By using recommendation techniques such as Content-Based Filtering, Collaborative Filtering, and Hybrid Models, the system can provide personalized and accurate movie suggestions to users. (geeksforgeeks.org)</a:t>
            </a:r>
            <a:endParaRPr lang="en-US" altLang="en-US" sz="1400">
              <a:latin typeface="Times New Roman" panose="02020603050405020304" pitchFamily="18" charset="0"/>
              <a:cs typeface="Times New Roman" panose="02020603050405020304" pitchFamily="18" charset="0"/>
            </a:endParaRPr>
          </a:p>
          <a:p>
            <a:pPr>
              <a:spcAft>
                <a:spcPct val="60000"/>
              </a:spcAft>
            </a:pPr>
            <a:r>
              <a:rPr lang="en-US" altLang="en-US" sz="1400">
                <a:latin typeface="Times New Roman" panose="02020603050405020304" pitchFamily="18" charset="0"/>
                <a:cs typeface="Times New Roman" panose="02020603050405020304" pitchFamily="18" charset="0"/>
              </a:rPr>
              <a:t>The project also showed how Machine Learning algorithms can improve user experience by reducing movie search time and helping users find relevant content more easily. Among different recommendation techniques, Collaborative Filtering and Hybrid Models provided better personalization and recommendation accuracy.</a:t>
            </a:r>
            <a:endParaRPr lang="en-US" altLang="en-US"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endParaRPr lang="en-IN" dirty="0"/>
          </a:p>
        </p:txBody>
      </p:sp>
      <p:sp>
        <p:nvSpPr>
          <p:cNvPr id="3" name="Subtitle 2"/>
          <p:cNvSpPr>
            <a:spLocks noGrp="1"/>
          </p:cNvSpPr>
          <p:nvPr>
            <p:ph type="subTitle"/>
          </p:nvPr>
        </p:nvSpPr>
        <p:spPr>
          <a:xfrm>
            <a:off x="339365" y="1498862"/>
            <a:ext cx="8347075" cy="4082938"/>
          </a:xfrm>
        </p:spPr>
        <p:txBody>
          <a:bodyPr/>
          <a:lstStyle/>
          <a:p>
            <a:r>
              <a:rPr lang="en-US" altLang="en-US" sz="1600" dirty="0">
                <a:latin typeface="Times New Roman" panose="02020603050405020304" pitchFamily="18" charset="0"/>
                <a:cs typeface="Times New Roman" panose="02020603050405020304" pitchFamily="18" charset="0"/>
              </a:rPr>
              <a:t>Ricci, F., Rokach, L., &amp; Shapira, B. — Recommender Systems Handbook</a:t>
            </a:r>
            <a:endParaRPr lang="en-US" altLang="en-US" sz="1600" dirty="0">
              <a:latin typeface="Times New Roman" panose="02020603050405020304" pitchFamily="18" charset="0"/>
              <a:cs typeface="Times New Roman" panose="02020603050405020304" pitchFamily="18" charset="0"/>
            </a:endParaRPr>
          </a:p>
          <a:p>
            <a:r>
              <a:rPr lang="en-US" altLang="en-US" sz="1600" dirty="0">
                <a:latin typeface="Times New Roman" panose="02020603050405020304" pitchFamily="18" charset="0"/>
                <a:cs typeface="Times New Roman" panose="02020603050405020304" pitchFamily="18" charset="0"/>
              </a:rPr>
              <a:t>GroupLens Research — MovieLens Dataset</a:t>
            </a:r>
            <a:endParaRPr lang="en-US" altLang="en-US" sz="1600" dirty="0">
              <a:latin typeface="Times New Roman" panose="02020603050405020304" pitchFamily="18" charset="0"/>
              <a:cs typeface="Times New Roman" panose="02020603050405020304" pitchFamily="18" charset="0"/>
            </a:endParaRPr>
          </a:p>
          <a:p>
            <a:r>
              <a:rPr lang="en-US" altLang="en-US" sz="1600" dirty="0">
                <a:latin typeface="Times New Roman" panose="02020603050405020304" pitchFamily="18" charset="0"/>
                <a:cs typeface="Times New Roman" panose="02020603050405020304" pitchFamily="18" charset="0"/>
              </a:rPr>
              <a:t>Netflix Recommendation System Research Papers</a:t>
            </a:r>
            <a:endParaRPr lang="en-US" altLang="en-US" sz="1600" dirty="0">
              <a:latin typeface="Times New Roman" panose="02020603050405020304" pitchFamily="18" charset="0"/>
              <a:cs typeface="Times New Roman" panose="02020603050405020304" pitchFamily="18" charset="0"/>
            </a:endParaRPr>
          </a:p>
          <a:p>
            <a:r>
              <a:rPr lang="en-US" altLang="en-US" sz="1600" dirty="0">
                <a:latin typeface="Times New Roman" panose="02020603050405020304" pitchFamily="18" charset="0"/>
                <a:cs typeface="Times New Roman" panose="02020603050405020304" pitchFamily="18" charset="0"/>
              </a:rPr>
              <a:t>Scikit-learn Official Documentation</a:t>
            </a:r>
            <a:endParaRPr lang="en-US" altLang="en-US" sz="1600" dirty="0">
              <a:latin typeface="Times New Roman" panose="02020603050405020304" pitchFamily="18" charset="0"/>
              <a:cs typeface="Times New Roman" panose="02020603050405020304" pitchFamily="18" charset="0"/>
            </a:endParaRPr>
          </a:p>
          <a:p>
            <a:r>
              <a:rPr lang="en-US" altLang="en-US" sz="1600" dirty="0">
                <a:latin typeface="Times New Roman" panose="02020603050405020304" pitchFamily="18" charset="0"/>
                <a:cs typeface="Times New Roman" panose="02020603050405020304" pitchFamily="18" charset="0"/>
              </a:rPr>
              <a:t>TensorFlow Official Documentation</a:t>
            </a:r>
            <a:endParaRPr lang="en-US" altLang="en-US" sz="1600" dirty="0">
              <a:latin typeface="Times New Roman" panose="02020603050405020304" pitchFamily="18" charset="0"/>
              <a:cs typeface="Times New Roman" panose="02020603050405020304" pitchFamily="18" charset="0"/>
            </a:endParaRPr>
          </a:p>
          <a:p>
            <a:r>
              <a:rPr lang="en-US" altLang="en-US" sz="1600" dirty="0">
                <a:latin typeface="Times New Roman" panose="02020603050405020304" pitchFamily="18" charset="0"/>
                <a:cs typeface="Times New Roman" panose="02020603050405020304" pitchFamily="18" charset="0"/>
              </a:rPr>
              <a:t>IBM — Collaborative Filtering and Recommendation Systems Research</a:t>
            </a:r>
            <a:endParaRPr lang="en-US" altLang="en-US" sz="1600" dirty="0">
              <a:latin typeface="Times New Roman" panose="02020603050405020304" pitchFamily="18" charset="0"/>
              <a:cs typeface="Times New Roman" panose="02020603050405020304" pitchFamily="18" charset="0"/>
            </a:endParaRPr>
          </a:p>
          <a:p>
            <a:r>
              <a:rPr lang="en-US" altLang="en-US" sz="1600" dirty="0">
                <a:latin typeface="Times New Roman" panose="02020603050405020304" pitchFamily="18" charset="0"/>
                <a:cs typeface="Times New Roman" panose="02020603050405020304" pitchFamily="18" charset="0"/>
              </a:rPr>
              <a:t>Research Papers on AI-Based Movie Recommendation Systems from IEEE and Springer Journals</a:t>
            </a:r>
            <a:endParaRPr lang="en-US" alt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GB"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37ED6F0-5E4C-4CD0-9B68-9C53F925A6F7}">
  <ds:schemaRefs/>
</ds:datastoreItem>
</file>

<file path=customXml/itemProps2.xml><?xml version="1.0" encoding="utf-8"?>
<ds:datastoreItem xmlns:ds="http://schemas.openxmlformats.org/officeDocument/2006/customXml" ds:itemID="{491DF113-39A2-46D5-BFDA-E63300A9ECAB}">
  <ds:schemaRefs/>
</ds:datastoreItem>
</file>

<file path=customXml/itemProps3.xml><?xml version="1.0" encoding="utf-8"?>
<ds:datastoreItem xmlns:ds="http://schemas.openxmlformats.org/officeDocument/2006/customXml" ds:itemID="{4A62A602-78C1-468C-BB25-57CD481DB741}">
  <ds:schemaRefs/>
</ds:datastoreItem>
</file>

<file path=docProps/app.xml><?xml version="1.0" encoding="utf-8"?>
<Properties xmlns="http://schemas.openxmlformats.org/officeDocument/2006/extended-properties" xmlns:vt="http://schemas.openxmlformats.org/officeDocument/2006/docPropsVTypes">
  <TotalTime>0</TotalTime>
  <Words>7858</Words>
  <Application>WPS Presentation</Application>
  <PresentationFormat>On-screen Show (4:3)</PresentationFormat>
  <Paragraphs>160</Paragraphs>
  <Slides>13</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13</vt:i4>
      </vt:variant>
    </vt:vector>
  </HeadingPairs>
  <TitlesOfParts>
    <vt:vector size="28" baseType="lpstr">
      <vt:lpstr>Arial</vt:lpstr>
      <vt:lpstr>SimSun</vt:lpstr>
      <vt:lpstr>Wingdings</vt:lpstr>
      <vt:lpstr>Calibri</vt:lpstr>
      <vt:lpstr>MS PGothic</vt:lpstr>
      <vt:lpstr>Arial</vt:lpstr>
      <vt:lpstr>Times New Roman</vt:lpstr>
      <vt:lpstr>Times New Roman</vt:lpstr>
      <vt:lpstr>Calibri</vt:lpstr>
      <vt:lpstr>Times New Roman</vt:lpstr>
      <vt:lpstr>Times New Roman</vt:lpstr>
      <vt:lpstr>Microsoft YaHei</vt:lpstr>
      <vt:lpstr>Arial Unicode MS</vt:lpstr>
      <vt:lpstr>DejaVu Sans</vt:lpstr>
      <vt:lpstr>Office Theme</vt:lpstr>
      <vt:lpstr>PowerPoint 演示文稿</vt:lpstr>
      <vt:lpstr>Contents</vt:lpstr>
      <vt:lpstr>PowerPoint 演示文稿</vt:lpstr>
      <vt:lpstr>Tools And Technologies</vt:lpstr>
      <vt:lpstr>Machine learning Models</vt:lpstr>
      <vt:lpstr>Experimental Methodology </vt:lpstr>
      <vt:lpstr> Results: Model Performance Comparison </vt:lpstr>
      <vt:lpstr> Why Random Forest Achieved Higher Accuracy </vt:lpstr>
      <vt:lpstr> Results: Feature Importance Analysis </vt:lpstr>
      <vt:lpstr>Applications</vt:lpstr>
      <vt:lpstr>Conclusion and Future Scope</vt:lpstr>
      <vt:lpstr>References</vt:lpstr>
      <vt:lpstr>PowerPoint 演示文稿</vt:lpstr>
    </vt:vector>
  </TitlesOfParts>
  <Company>CCC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Armaan Arora</cp:lastModifiedBy>
  <cp:revision>2300</cp:revision>
  <dcterms:created xsi:type="dcterms:W3CDTF">2010-04-09T07:36:00Z</dcterms:created>
  <dcterms:modified xsi:type="dcterms:W3CDTF">2026-05-16T05:37:51Z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y fmtid="{D5CDD505-2E9C-101B-9397-08002B2CF9AE}" pid="14" name="KSOProductBuildVer">
    <vt:lpwstr>1033-12.1.0.26372</vt:lpwstr>
  </property>
  <property fmtid="{D5CDD505-2E9C-101B-9397-08002B2CF9AE}" pid="15" name="ICV">
    <vt:lpwstr>AC775081F80C47979CFAB84D74DAE2E1_13</vt:lpwstr>
  </property>
</Properties>
</file>